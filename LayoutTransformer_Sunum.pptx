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30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LayoutTransformer ile</a:t>
            </a:r>
            <a:endParaRPr lang="en-US" sz="3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Layout Üretimi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GPT-Tarzı Autoregressive Transformer ile Mobil Arayüz Tasarımı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3566160"/>
            <a:ext cx="2743200" cy="27432"/>
          </a:xfrm>
          <a:prstGeom prst="rect">
            <a:avLst/>
          </a:prstGeom>
          <a:solidFill>
            <a:srgbClr val="1E40AF">
              <a:alpha val="5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Hazırlayan: Emir Çabalak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Hocası: Haydar Kılıç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Yapay Zeka Dersi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&amp; Motivasyon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tasarımı otomasyonu neden önemli?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68580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3152" cy="68580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Uygulama Patlaması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901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Milyonlarca uygulama, her biri benzersiz UI tasarımı gerektiriyor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8046720" cy="68580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73152" cy="6858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91440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 Maliyeti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724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UI tasarımı zaman alıcı ve pahalı bir süreç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8046720" cy="68580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73152" cy="685800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91440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ile Otomasyon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5478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yapay zeka, tasarım sürecini hızlandırabilir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8046720" cy="68580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73152" cy="6858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91440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Prototipleme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370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prototip üretimi ile tasarım iterasyonları kısalır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Tanımı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347472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5486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Zorluklar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Yapısal kısıtlamalar (overlap yok, hizalama)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eleman sayıları ve tipleri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Sınıf-koordinat bağımlılıkları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tutarlılık ve estetik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347472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840480" cy="54864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02920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Geçerli bounding box koordinatları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overlap, yüksek hizalama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çeşitliliği olan layout'lar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stil varyasyonları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Yaklaşım: DDPM (Başarısız)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182880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 Nedir?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Diffusion Probabilistic Model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Gürültüden veri üretme yaklaşımı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 üretiminde çok başarılı (DALL-E, Stable Diffusion)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840480" cy="182880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54864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Başarısız?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Koordinatları bağımsız sürekli değer olarak işler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Yapısal kısıtları öğrenemez (x_max &gt; x_min)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Sınıf-koordinat ilişkisini yakalayamaz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8046720" cy="1371600"/>
          </a:xfrm>
          <a:prstGeom prst="rect">
            <a:avLst/>
          </a:prstGeom>
          <a:solidFill>
            <a:srgbClr val="E5E7EB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2044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63040" y="34290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Layout generation, sürekli değer regresyonu değil,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ayrık token tahmini problemidir.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63040" y="4114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keşif bizi LayoutTransformer yaklaşımına yönlendirdi.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LayoutTransformer Mimarisi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114800" cy="365760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Parametreleri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76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21762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Transformer Decoder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6151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 Kafası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261518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(Multi-Head)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0540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Boyut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30540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493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Aktivasyon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34930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GELU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Boyutu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3931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token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1097280"/>
            <a:ext cx="3657600" cy="365760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21208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Vocabulary (53)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12080" y="1783080"/>
            <a:ext cx="31089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5212080" y="1783080"/>
            <a:ext cx="54864" cy="50292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440680" y="1801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20299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[0-2] — PAD, BOS, EOS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2423160"/>
            <a:ext cx="31089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5212080" y="2423160"/>
            <a:ext cx="54864" cy="50292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5440680" y="2441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2670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[3-34] — 32 ayrık bin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12080" y="3063240"/>
            <a:ext cx="31089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5212080" y="3063240"/>
            <a:ext cx="54864" cy="502920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5440680" y="3081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3310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[35-44] — 10 UI sınıfı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12080" y="3703320"/>
            <a:ext cx="31089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5212080" y="3703320"/>
            <a:ext cx="54864" cy="50292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5440680" y="37216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40680" y="3950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[45-52] — 8 stil varyasyonu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3703320"/>
            <a:ext cx="3657600" cy="960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512064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Eleman Token Dizisi: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2064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[class, x_min, y_min, x_max, y_max, style]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20640" y="42976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token/eleman × 25 eleman + BOS + EOS = 152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 Tokenleri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UI elemanı için model hem koordinat hem stil üretiyor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118872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8046720" cy="54864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Formatı (6 token/eleman)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[class, x_min, y_min, x_max, y_max, style]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VOCAB_SIZE = 53   |   8 stil × 10 sınıf = 80 farklı görünüm   |   MAX_SEQ_LEN = 152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Stil Varyasyonları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8046720" cy="38404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0" y="3282696"/>
            <a:ext cx="219456" cy="219456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1920240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66160" y="3282696"/>
            <a:ext cx="219456" cy="219456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840480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3282696"/>
            <a:ext cx="219456" cy="219456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760720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3282696"/>
            <a:ext cx="219456" cy="219456"/>
          </a:xfrm>
          <a:prstGeom prst="rect">
            <a:avLst/>
          </a:prstGeom>
          <a:solidFill>
            <a:srgbClr val="F4433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7680960" y="3200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639312"/>
            <a:ext cx="8046720" cy="3840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40080" y="36393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645920" y="3721608"/>
            <a:ext cx="219456" cy="219456"/>
          </a:xfrm>
          <a:prstGeom prst="rect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1920240" y="36393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Koyu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66160" y="3721608"/>
            <a:ext cx="219456" cy="219456"/>
          </a:xfrm>
          <a:prstGeom prst="rect">
            <a:avLst/>
          </a:prstGeom>
          <a:solidFill>
            <a:srgbClr val="90CAF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3840480" y="36393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3721608"/>
            <a:ext cx="219456" cy="219456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5760720" y="36393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06640" y="3721608"/>
            <a:ext cx="219456" cy="219456"/>
          </a:xfrm>
          <a:prstGeom prst="rect">
            <a:avLst/>
          </a:prstGeom>
          <a:solidFill>
            <a:srgbClr val="00968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7680960" y="36393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078224"/>
            <a:ext cx="8046720" cy="38404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640080" y="407822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645920" y="4160520"/>
            <a:ext cx="219456" cy="219456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1920240" y="40782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Yeşil 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66160" y="4160520"/>
            <a:ext cx="219456" cy="219456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3840480" y="40782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Mavi 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0" y="4160520"/>
            <a:ext cx="219456" cy="219456"/>
          </a:xfrm>
          <a:prstGeom prst="rect">
            <a:avLst/>
          </a:prstGeom>
          <a:solidFill>
            <a:srgbClr val="C8C8C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5760720" y="40782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 OFF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06640" y="4160520"/>
            <a:ext cx="219456" cy="219456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7680960" y="40782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 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4517136"/>
            <a:ext cx="8046720" cy="3840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640080" y="45171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645920" y="4599432"/>
            <a:ext cx="219456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1920240" y="45171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Beyaz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566160" y="4599432"/>
            <a:ext cx="219456" cy="21945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3840480" y="45171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Gri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0" y="4599432"/>
            <a:ext cx="219456" cy="219456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5760720" y="45171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Krem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406640" y="4599432"/>
            <a:ext cx="219456" cy="219456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7680960" y="45171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Mavi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Süreci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828800" cy="100584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47,830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Layout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1051560"/>
            <a:ext cx="1828800" cy="100584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65176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5176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1828800" cy="100584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75488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1051560"/>
            <a:ext cx="1828800" cy="100584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85800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/ Doğrulama Loss Grafiği</a:t>
            </a:r>
            <a:endParaRPr lang="en-US" sz="1400" dirty="0"/>
          </a:p>
        </p:txBody>
      </p:sp>
      <p:pic>
        <p:nvPicPr>
          <p:cNvPr id="17" name="Image 0" descr="C:\Users\emirc\OneDrive\Desktop\üretken yapay zeka\layout_transformer_samples\training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51760"/>
            <a:ext cx="4754880" cy="23774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577840" y="2286000"/>
            <a:ext cx="3017520" cy="274320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5760720" y="2377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Detayları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760720" y="278892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Cross-Entropy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AdamW (lr=3e-4)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 + Warmup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Clipping: 1.0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 30 epoch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Sampling: 0.9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0.9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Serbest Üretim Sonuçları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tüm token'ları kendisi üretir: sınıf, koordinat ve stil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Çıktıları</a:t>
            </a:r>
            <a:endParaRPr lang="en-US" sz="1300" dirty="0"/>
          </a:p>
        </p:txBody>
      </p:sp>
      <p:pic>
        <p:nvPicPr>
          <p:cNvPr id="6" name="Image 0" descr="C:\Users\emirc\OneDrive\Desktop\üretken yapay zeka\layout_transformer_samples\generated_layo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39319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Mockup Çıktıları</a:t>
            </a:r>
            <a:endParaRPr lang="en-US" sz="1300" dirty="0"/>
          </a:p>
        </p:txBody>
      </p:sp>
      <p:pic>
        <p:nvPicPr>
          <p:cNvPr id="8" name="Image 1" descr="C:\Users\emirc\OneDrive\Desktop\üretken yapay zeka\layout_transformer_samples\ui_mockups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45920"/>
            <a:ext cx="39319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Sınıf-Koşullu Üretim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22960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Nasıl Çalışır?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istediği UI elemanlarını belirtir → Model her eleman için koordinat ve stil tokenlerini autoregressive olarak üretir.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840480" cy="246888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Girdisi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Panel, Button, Button,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TextInput, Label, Image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tokenleri sabit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 + Stil → Model üretir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girdi ile her seferinde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layout üretilir!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377440"/>
            <a:ext cx="3840480" cy="246888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754880" y="2377440"/>
            <a:ext cx="3840480" cy="54864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93776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Çıktıları (Farklı Varyasyonlar)</a:t>
            </a:r>
            <a:endParaRPr lang="en-US" sz="1300" dirty="0"/>
          </a:p>
        </p:txBody>
      </p:sp>
      <p:pic>
        <p:nvPicPr>
          <p:cNvPr id="15" name="Image 0" descr="C:\Users\emirc\OneDrive\Desktop\üretken yapay zeka\layout_transformer_samples\ui_mockup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834640"/>
            <a:ext cx="1143000" cy="1920240"/>
          </a:xfrm>
          <a:prstGeom prst="rect">
            <a:avLst/>
          </a:prstGeom>
        </p:spPr>
      </p:pic>
      <p:pic>
        <p:nvPicPr>
          <p:cNvPr id="16" name="Image 1" descr="C:\Users\emirc\OneDrive\Desktop\üretken yapay zeka\layout_transformer_samples\ui_mockup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834640"/>
            <a:ext cx="1143000" cy="1920240"/>
          </a:xfrm>
          <a:prstGeom prst="rect">
            <a:avLst/>
          </a:prstGeom>
        </p:spPr>
      </p:pic>
      <p:pic>
        <p:nvPicPr>
          <p:cNvPr id="17" name="Image 2" descr="C:\Users\emirc\OneDrive\Desktop\üretken yapay zeka\layout_transformer_samples\ui_mockup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2834640"/>
            <a:ext cx="11430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 vs LayoutTransformer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567760"/>
              </p:ext>
            </p:extLst>
          </p:nvPr>
        </p:nvGraphicFramePr>
        <p:xfrm>
          <a:off x="548640" y="1097280"/>
          <a:ext cx="8046720" cy="32918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40AF"/>
                          </a:solidFill>
                        </a:rPr>
                        <a:t>Özellik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</a:rPr>
                        <a:t>DDPM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47857"/>
                          </a:solidFill>
                        </a:rPr>
                        <a:t>LayoutTransformer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Veri Temsili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Sürekli vektör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Ayrık token dizisi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Yapısal Kısıt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Öğrenemez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Token maskelemesi ile garanti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Sınıf-Koordinat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Bağımsız değer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Autoregressive bağımlılık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Stil Üretimi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Desteklenmiyor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Stil tokenleri ile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Koşullu Üretim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Zor/karmaşık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Prompt tabanlı, doğal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Çıktı Kalitesi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Düşük (overlap, geçersiz)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Yüksek (%100 validity)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Eğitim Süresi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~2</a:t>
                      </a:r>
                      <a:r>
                        <a:rPr lang="tr-TR" sz="1200" dirty="0">
                          <a:solidFill>
                            <a:srgbClr val="6B7280"/>
                          </a:solidFill>
                        </a:rPr>
                        <a:t>0</a:t>
                      </a:r>
                      <a:r>
                        <a:rPr lang="en-US" sz="1200" dirty="0">
                          <a:solidFill>
                            <a:srgbClr val="6B7280"/>
                          </a:solidFill>
                        </a:rPr>
                        <a:t> saat (kötü sonuç)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~</a:t>
                      </a:r>
                      <a:r>
                        <a:rPr lang="tr-TR" sz="1200" dirty="0">
                          <a:solidFill>
                            <a:srgbClr val="1F2937"/>
                          </a:solidFill>
                        </a:rPr>
                        <a:t>4 saat </a:t>
                      </a: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(iyi sonuç)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Metrikleri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92024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920240" cy="54864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Geçerli bounding box oranı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(x_max &gt; x_min, [0,1] içinde)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188720"/>
            <a:ext cx="192024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651760" y="1188720"/>
            <a:ext cx="1920240" cy="5486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65176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5176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21488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Kenarların hizalanma skoru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(threshold: 0.02)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192024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1920240" cy="54864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977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Eleman çiftleri arası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kesişim oranı (IoU)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51760" y="3017520"/>
            <a:ext cx="1920240" cy="164592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2651760" y="3017520"/>
            <a:ext cx="1920240" cy="54864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2651760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65176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88920" y="3977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Kullanılan sınıf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çeşitliliği</a:t>
            </a:r>
            <a:endParaRPr lang="en-US" sz="1000" dirty="0"/>
          </a:p>
        </p:txBody>
      </p:sp>
      <p:pic>
        <p:nvPicPr>
          <p:cNvPr id="24" name="Image 0" descr="C:\Users\emirc\OneDrive\Desktop\üretken yapay zeka\layout_transformer_samples\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88720"/>
            <a:ext cx="3840480" cy="2400300"/>
          </a:xfrm>
          <a:prstGeom prst="rect">
            <a:avLst/>
          </a:prstGeom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Mockup Renderer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+ stil tokenlerinden gerçekçi UI mockup oluşturma</a:t>
            </a:r>
            <a:endParaRPr lang="en-US" sz="1400" dirty="0"/>
          </a:p>
        </p:txBody>
      </p:sp>
      <p:pic>
        <p:nvPicPr>
          <p:cNvPr id="5" name="Image 0" descr="C:\Users\emirc\OneDrive\Desktop\üretken yapay zeka\layout_transformer_samples\ui_mockup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1234440" cy="164592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pic>
      <p:pic>
        <p:nvPicPr>
          <p:cNvPr id="6" name="Image 1" descr="C:\Users\emirc\OneDrive\Desktop\üretken yapay zeka\layout_transformer_samples\ui_mockup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1371600"/>
            <a:ext cx="1234440" cy="164592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pic>
      <p:pic>
        <p:nvPicPr>
          <p:cNvPr id="7" name="Image 2" descr="C:\Users\emirc\OneDrive\Desktop\üretken yapay zeka\layout_transformer_samples\ui_mockup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1371600"/>
            <a:ext cx="1234440" cy="164592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pic>
      <p:pic>
        <p:nvPicPr>
          <p:cNvPr id="8" name="Image 3" descr="C:\Users\emirc\OneDrive\Desktop\üretken yapay zeka\layout_transformer_samples\ui_mockup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1371600"/>
            <a:ext cx="1234440" cy="164592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9" name="Shape 3"/>
          <p:cNvSpPr/>
          <p:nvPr/>
        </p:nvSpPr>
        <p:spPr>
          <a:xfrm>
            <a:off x="6126480" y="1371600"/>
            <a:ext cx="2651760" cy="329184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4"/>
          <p:cNvSpPr/>
          <p:nvPr/>
        </p:nvSpPr>
        <p:spPr>
          <a:xfrm>
            <a:off x="626364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Sınıf × 8 Stil = 80 Görünüm</a:t>
            </a:r>
            <a:endParaRPr lang="en-US" sz="1300" dirty="0"/>
          </a:p>
        </p:txBody>
      </p:sp>
      <p:sp>
        <p:nvSpPr>
          <p:cNvPr id="11" name="Shape 5"/>
          <p:cNvSpPr/>
          <p:nvPr/>
        </p:nvSpPr>
        <p:spPr>
          <a:xfrm>
            <a:off x="6309360" y="1892808"/>
            <a:ext cx="182880" cy="18288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6"/>
          <p:cNvSpPr/>
          <p:nvPr/>
        </p:nvSpPr>
        <p:spPr>
          <a:xfrm>
            <a:off x="6583680" y="1874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6309360" y="2167128"/>
            <a:ext cx="182880" cy="18288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8"/>
          <p:cNvSpPr/>
          <p:nvPr/>
        </p:nvSpPr>
        <p:spPr>
          <a:xfrm>
            <a:off x="6583680" y="2148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6309360" y="2441448"/>
            <a:ext cx="182880" cy="18288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0"/>
          <p:cNvSpPr/>
          <p:nvPr/>
        </p:nvSpPr>
        <p:spPr>
          <a:xfrm>
            <a:off x="6583680" y="2423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TextInput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309360" y="2715768"/>
            <a:ext cx="182880" cy="182880"/>
          </a:xfrm>
          <a:prstGeom prst="rect">
            <a:avLst/>
          </a:prstGeom>
          <a:solidFill>
            <a:srgbClr val="3C3C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2"/>
          <p:cNvSpPr/>
          <p:nvPr/>
        </p:nvSpPr>
        <p:spPr>
          <a:xfrm>
            <a:off x="6583680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309360" y="2990088"/>
            <a:ext cx="182880" cy="182880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4"/>
          <p:cNvSpPr/>
          <p:nvPr/>
        </p:nvSpPr>
        <p:spPr>
          <a:xfrm>
            <a:off x="6583680" y="2971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309360" y="3264408"/>
            <a:ext cx="182880" cy="18288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16"/>
          <p:cNvSpPr/>
          <p:nvPr/>
        </p:nvSpPr>
        <p:spPr>
          <a:xfrm>
            <a:off x="6583680" y="3246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309360" y="3538728"/>
            <a:ext cx="182880" cy="182880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18"/>
          <p:cNvSpPr/>
          <p:nvPr/>
        </p:nvSpPr>
        <p:spPr>
          <a:xfrm>
            <a:off x="6583680" y="3520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309360" y="3813048"/>
            <a:ext cx="182880" cy="18288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0"/>
          <p:cNvSpPr/>
          <p:nvPr/>
        </p:nvSpPr>
        <p:spPr>
          <a:xfrm>
            <a:off x="6583680" y="3794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309360" y="4087368"/>
            <a:ext cx="182880" cy="182880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2"/>
          <p:cNvSpPr/>
          <p:nvPr/>
        </p:nvSpPr>
        <p:spPr>
          <a:xfrm>
            <a:off x="6583680" y="4069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309360" y="4361688"/>
            <a:ext cx="182880" cy="182880"/>
          </a:xfrm>
          <a:prstGeom prst="rect">
            <a:avLst/>
          </a:prstGeom>
          <a:solidFill>
            <a:srgbClr val="8BC3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4"/>
          <p:cNvSpPr/>
          <p:nvPr/>
        </p:nvSpPr>
        <p:spPr>
          <a:xfrm>
            <a:off x="6583680" y="4343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pic>
        <p:nvPicPr>
          <p:cNvPr id="31" name="Image 4" descr="C:\Users\emirc\OneDrive\Desktop\üretken yapay zeka\layout_transformer_samples\ui_mockup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200400"/>
            <a:ext cx="1234440" cy="164592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pic>
      <p:pic>
        <p:nvPicPr>
          <p:cNvPr id="32" name="Image 5" descr="C:\Users\emirc\OneDrive\Desktop\üretken yapay zeka\layout_transformer_samples\ui_mockup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3080" y="3200400"/>
            <a:ext cx="1234440" cy="164592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pic>
      <p:pic>
        <p:nvPicPr>
          <p:cNvPr id="33" name="Image 6" descr="C:\Users\emirc\OneDrive\Desktop\üretken yapay zeka\layout_transformer_samples\ui_mockup_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0" y="3200400"/>
            <a:ext cx="1234440" cy="164592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pic>
      <p:pic>
        <p:nvPicPr>
          <p:cNvPr id="34" name="Image 7" descr="C:\Users\emirc\OneDrive\Desktop\üretken yapay zeka\layout_transformer_samples\ui_mockup_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7720" y="3200400"/>
            <a:ext cx="1234440" cy="164592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35" name="Text 25"/>
          <p:cNvSpPr/>
          <p:nvPr/>
        </p:nvSpPr>
        <p:spPr>
          <a:xfrm>
            <a:off x="7393349" y="2423160"/>
            <a:ext cx="1123861" cy="11334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 tokeni ile her sınıf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renk/görünüm alır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&amp; Gelecek Çalışmalar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01752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40480" cy="54864"/>
          </a:xfrm>
          <a:prstGeom prst="rect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 Edilen Sonuçlar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 → Transformer geçişi ile dramatik iyileşme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%100 validity, 0.662 alignment skoru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 tokenleri ile AI-generated görsel çeşitlilik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Sınıf-koşullu üretim ile kontrollü tasarım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sınıf × 8 stil = 80 farklı eleman görünümü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İnteraktif Colab arayüzü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301752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02920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Çalışmalar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fazla </a:t>
            </a: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varyasyonu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tercihi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tr-TR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Arttırımı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büyük veri setleri (iOS, web)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Figma/Sketch entegrasyonu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içeriği üretimi (NLP ile)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54864"/>
          </a:xfrm>
          <a:prstGeom prst="rect">
            <a:avLst/>
          </a:prstGeom>
          <a:solidFill>
            <a:srgbClr val="047857">
              <a:alpha val="50000"/>
            </a:srgbClr>
          </a:solidFill>
          <a:ln/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solidFill>
            <a:srgbClr val="F3F4F6"/>
          </a:solidFill>
          <a:ln/>
          <a:effectLst>
            <a:outerShdw blurRad="101600" dist="38100" dir="8100000" algn="bl" rotWithShape="0">
              <a:srgbClr val="CCCCCC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Gupta et al., "LayoutTransformer: Layout Generation and Completion with Self-Attention", ICCV 2021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Vaswani et al., "Attention Is All You Need", NeurIPS 2017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Ho et al., "Denoising Diffusion Probabilistic Models", NeurIPS 2020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Deka et al., "Rico: A Mobile App Dataset for Building Data-Driven Design Applications", UIST 2017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Radford et al., "Language Models are Unsupervised Multitask Learners" (GPT-2), OpenAI 2019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Holtzman et al., "The Curious Case of Neural Text Degeneration" (Nucleus Sampling), ICLR 2020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için T</a:t>
            </a:r>
            <a:r>
              <a:rPr lang="en-US" sz="1800" b="1" dirty="0" err="1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eşekkürler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880</Words>
  <Application>Microsoft Office PowerPoint</Application>
  <PresentationFormat>Ekran Gösterisi (16:9)</PresentationFormat>
  <Paragraphs>218</Paragraphs>
  <Slides>14</Slides>
  <Notes>14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LayoutTransformer ile UI Layout Uretimi</dc:title>
  <dc:subject>PptxGenJS Presentation</dc:subject>
  <dc:creator>Emir Cabalak</dc:creator>
  <cp:lastModifiedBy>Emir Çabalak</cp:lastModifiedBy>
  <cp:revision>7</cp:revision>
  <dcterms:created xsi:type="dcterms:W3CDTF">2026-04-09T17:52:25Z</dcterms:created>
  <dcterms:modified xsi:type="dcterms:W3CDTF">2026-04-10T17:28:07Z</dcterms:modified>
</cp:coreProperties>
</file>